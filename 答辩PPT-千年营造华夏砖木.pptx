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建筑类别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4A853"/>
              </a:solidFill>
              <a:effectLst/>
            </c:spPr>
          </c:dPt>
          <c:dPt>
            <c:idx val="1"/>
            <c:bubble3D val="0"/>
            <c:spPr>
              <a:solidFill>
                <a:srgbClr val="5EEAD4"/>
              </a:solidFill>
              <a:effectLst/>
            </c:spPr>
          </c:dPt>
          <c:dPt>
            <c:idx val="2"/>
            <c:bubble3D val="0"/>
            <c:spPr>
              <a:solidFill>
                <a:srgbClr val="DC2626"/>
              </a:solidFill>
              <a:effectLst/>
            </c:spPr>
          </c:dPt>
          <c:dPt>
            <c:idx val="3"/>
            <c:bubble3D val="0"/>
            <c:spPr>
              <a:solidFill>
                <a:srgbClr val="38BDF8"/>
              </a:solidFill>
              <a:effectLst/>
            </c:spPr>
          </c:dPt>
          <c:dPt>
            <c:idx val="4"/>
            <c:bubble3D val="0"/>
            <c:spPr>
              <a:solidFill>
                <a:srgbClr val="A78BFA"/>
              </a:solidFill>
              <a:effectLst/>
            </c:spPr>
          </c:dPt>
          <c:dPt>
            <c:idx val="5"/>
            <c:bubble3D val="0"/>
            <c:spPr>
              <a:solidFill>
                <a:srgbClr val="FB923C"/>
              </a:solidFill>
              <a:effectLst/>
            </c:spPr>
          </c:dPt>
          <c:dPt>
            <c:idx val="6"/>
            <c:bubble3D val="0"/>
            <c:spPr>
              <a:solidFill>
                <a:srgbClr val="38BDF8"/>
              </a:solidFill>
              <a:effectLst/>
            </c:spPr>
          </c:dPt>
          <c:dPt>
            <c:idx val="7"/>
            <c:bubble3D val="0"/>
            <c:spPr>
              <a:solidFill>
                <a:srgbClr val="A78BFA"/>
              </a:solidFill>
              <a:effectLst/>
            </c:spPr>
          </c:dPt>
          <c:dPt>
            <c:idx val="8"/>
            <c:bubble3D val="0"/>
            <c:spPr>
              <a:solidFill>
                <a:srgbClr val="5EEAD4"/>
              </a:solidFill>
              <a:effectLst/>
            </c:spPr>
          </c:dPt>
          <c:dPt>
            <c:idx val="9"/>
            <c:bubble3D val="0"/>
            <c:spPr>
              <a:solidFill>
                <a:srgbClr val="38BDF8"/>
              </a:solidFill>
              <a:effectLst/>
            </c:spPr>
          </c:dPt>
          <c:dPt>
            <c:idx val="10"/>
            <c:bubble3D val="0"/>
            <c:spPr>
              <a:solidFill>
                <a:srgbClr val="FB923C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1F5F9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1F5F9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1F5F9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1F5F9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1F5F9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1F5F9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1F5F9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1F5F9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1F5F9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1F5F9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1F5F9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Sheet1!$A$2:$A$12</c:f>
              <c:strCache>
                <c:ptCount val="11"/>
                <c:pt idx="0">
                  <c:v>皇宫</c:v>
                </c:pt>
                <c:pt idx="1">
                  <c:v>寺庙</c:v>
                </c:pt>
                <c:pt idx="2">
                  <c:v>园林</c:v>
                </c:pt>
                <c:pt idx="3">
                  <c:v>墓葬</c:v>
                </c:pt>
                <c:pt idx="4">
                  <c:v>城址</c:v>
                </c:pt>
                <c:pt idx="5">
                  <c:v>祭祀建筑</c:v>
                </c:pt>
                <c:pt idx="6">
                  <c:v>官府</c:v>
                </c:pt>
                <c:pt idx="7">
                  <c:v>石窟</c:v>
                </c:pt>
                <c:pt idx="8">
                  <c:v>楼阁</c:v>
                </c:pt>
                <c:pt idx="9">
                  <c:v>桥梁</c:v>
                </c:pt>
                <c:pt idx="10">
                  <c:v>民居</c:v>
                </c:pt>
              </c:strCache>
            </c:strRef>
          </c:cat>
          <c:val>
            <c:numRef>
              <c:f>Sheet1!$B$2:$B$12</c:f>
              <c:numCache>
                <c:ptCount val="11"/>
                <c:pt idx="0">
                  <c:v>4</c:v>
                </c:pt>
                <c:pt idx="1">
                  <c:v>26</c:v>
                </c:pt>
                <c:pt idx="2">
                  <c:v>20</c:v>
                </c:pt>
                <c:pt idx="3">
                  <c:v>10</c:v>
                </c:pt>
                <c:pt idx="4">
                  <c:v>11</c:v>
                </c:pt>
                <c:pt idx="5">
                  <c:v>10</c:v>
                </c:pt>
                <c:pt idx="6">
                  <c:v>5</c:v>
                </c:pt>
                <c:pt idx="7">
                  <c:v>9</c:v>
                </c:pt>
                <c:pt idx="8">
                  <c:v>6</c:v>
                </c:pt>
                <c:pt idx="9">
                  <c:v>8</c:v>
                </c:pt>
                <c:pt idx="10">
                  <c:v>6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F1F5F9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著作数量</c:v>
                </c:pt>
              </c:strCache>
            </c:strRef>
          </c:tx>
          <c:spPr>
            <a:solidFill>
              <a:srgbClr val="D4A85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1F5F9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明</c:v>
                  </c:pt>
                  <c:pt idx="1">
                    <c:v>北宋</c:v>
                  </c:pt>
                  <c:pt idx="2">
                    <c:v>清</c:v>
                  </c:pt>
                  <c:pt idx="3">
                    <c:v>春秋—战国</c:v>
                  </c:pt>
                  <c:pt idx="4">
                    <c:v>唐</c:v>
                  </c:pt>
                  <c:pt idx="5">
                    <c:v>元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</c:v>
                </c:pt>
                <c:pt idx="1">
                  <c:v>3</c:v>
                </c:pt>
                <c:pt idx="2">
                  <c:v>3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1F5F9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F1F5F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457200"/>
            <a:ext cx="274320" cy="274320"/>
          </a:xfrm>
          <a:prstGeom prst="ellipse">
            <a:avLst/>
          </a:prstGeom>
          <a:solidFill>
            <a:srgbClr val="D4A853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731520"/>
            <a:ext cx="274320" cy="274320"/>
          </a:xfrm>
          <a:prstGeom prst="ellipse">
            <a:avLst/>
          </a:prstGeom>
          <a:solidFill>
            <a:srgbClr val="D4A853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0" y="1005840"/>
            <a:ext cx="274320" cy="274320"/>
          </a:xfrm>
          <a:prstGeom prst="ellipse">
            <a:avLst/>
          </a:prstGeom>
          <a:solidFill>
            <a:srgbClr val="D4A853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686800" y="1280160"/>
            <a:ext cx="274320" cy="274320"/>
          </a:xfrm>
          <a:prstGeom prst="ellipse">
            <a:avLst/>
          </a:prstGeom>
          <a:solidFill>
            <a:srgbClr val="D4A853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144000" y="1554480"/>
            <a:ext cx="274320" cy="274320"/>
          </a:xfrm>
          <a:prstGeom prst="ellipse">
            <a:avLst/>
          </a:prstGeom>
          <a:solidFill>
            <a:srgbClr val="D4A853">
              <a:alpha val="3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D4A8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千年营造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457200" y="2651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5EEA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华夏砖木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457200" y="3657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——中国古代建筑数据可视化平台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57200" y="45720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中国古代建筑数据可视化平台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四大维度 · 二十余种图表 · 全流程数据驱动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5669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制作者：赵沙滨  |  指导老师：（根据实际情况填写）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8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 录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371600" cy="45720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716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EEA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645920" y="13716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项目背景与意义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45920" y="16916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弘扬中华优秀传统文化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1945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EEA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645920" y="21945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核心内容总览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645920" y="25146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四大维度数据体系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30175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EEA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645920" y="30175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技术架构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45920" y="33375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Vite + ECharts + GSAP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38404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EEA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645920" y="38404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页面展示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645920" y="41605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五大功能页面详解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46634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EEA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645920" y="46634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创新亮点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645920" y="49834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视觉·技术·内容三重创新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14400" y="54864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EEA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645920" y="54864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项目成果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645920" y="58064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部署上线与代码统计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8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项目背景与意义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371600" cy="45720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EEA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为什么选择中国古代建筑？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b="1" dirty="0">
                <a:solidFill>
                  <a:srgbClr val="D4A8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建筑是凝固的历史：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中国古代建筑承载着2500年的文明记忆，是世界建筑史上独特的木构体系</a:t>
            </a:r>
            <a:pPr indent="0" marL="0">
              <a:lnSpc>
                <a:spcPts val="2400"/>
              </a:lnSpc>
              <a:buNone/>
            </a:pP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b="1" dirty="0">
                <a:solidFill>
                  <a:srgbClr val="D4A8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数据可视化的价值：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将分散的古建筑数据整合为直观的可视化表达，降低认知门槛</a:t>
            </a:r>
            <a:pPr indent="0" marL="0">
              <a:lnSpc>
                <a:spcPts val="2400"/>
              </a:lnSpc>
              <a:buNone/>
            </a:pP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b="1" dirty="0">
                <a:solidFill>
                  <a:srgbClr val="D4A8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弘扬传统文化：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响应国家《弘扬中华优秀传统文化》号召，以现代技术讲好中国故事</a:t>
            </a:r>
            <a:pPr indent="0" marL="0">
              <a:lnSpc>
                <a:spcPts val="2400"/>
              </a:lnSpc>
              <a:buNone/>
            </a:pP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b="1" dirty="0">
                <a:solidFill>
                  <a:srgbClr val="D4A8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创作契机：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面向公众传播中华优秀建筑文化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8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核心内容总览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371600" cy="45720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371600"/>
            <a:ext cx="3931920" cy="1828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544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4A8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115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2103120" y="17373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古建筑遗存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846320" y="1371600"/>
            <a:ext cx="3931920" cy="1828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5544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4A8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492240" y="17373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22860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杰出科学家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657600"/>
            <a:ext cx="3931920" cy="1828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8404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4A8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2103120" y="40233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45720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传世著作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846320" y="3657600"/>
            <a:ext cx="3931920" cy="1828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0" y="38404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4A8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38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492240" y="40233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29200" y="45720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建筑文化形态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8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数据体系与来源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371600" cy="45720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EEA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四大维度数据，全部来自权威公开来源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137160" cy="91440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9202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8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建筑成就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2402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115处  |  国家文物局全国重点文物保护单位名录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25146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采集方法：Python爬虫 + 人工校验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137160" cy="91440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1089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8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杰出科学家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34290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20位  |  百度百科词条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3703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采集方法：词条整理 + 影响力评分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4206240"/>
            <a:ext cx="137160" cy="91440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2976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8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传世著作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31520" y="46177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14部  |  百度百科 + 故宫博物院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48920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采集方法：文献检索 + 分类整理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5394960"/>
            <a:ext cx="137160" cy="91440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5486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8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建筑文化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31520" y="5806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38类  |  中国非物质文化遗产网 + 学术文献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" y="60807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采集方法：多源融合 + 结构化处理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8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技术架构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371600" cy="45720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EEA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前端技术栈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137160" cy="457200"/>
          </a:xfrm>
          <a:prstGeom prst="roundRect">
            <a:avLst>
              <a:gd name="adj" fmla="val 33333"/>
            </a:avLst>
          </a:prstGeom>
          <a:solidFill>
            <a:srgbClr val="D4A853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828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Vite 4.5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10312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构建工具，MPA多页面架构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137160" cy="457200"/>
          </a:xfrm>
          <a:prstGeom prst="roundRect">
            <a:avLst>
              <a:gd name="adj" fmla="val 33333"/>
            </a:avLst>
          </a:prstGeom>
          <a:solidFill>
            <a:srgbClr val="5EEAD4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468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ECharts 5.4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74320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图表库，20+种图表类型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137160" cy="457200"/>
          </a:xfrm>
          <a:prstGeom prst="roundRect">
            <a:avLst>
              <a:gd name="adj" fmla="val 33333"/>
            </a:avLst>
          </a:prstGeom>
          <a:solidFill>
            <a:srgbClr val="DC2626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108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GSAP 3.12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338328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动画库，页面过渡与交互动效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749040"/>
            <a:ext cx="137160" cy="457200"/>
          </a:xfrm>
          <a:prstGeom prst="roundRect">
            <a:avLst>
              <a:gd name="adj" fmla="val 33333"/>
            </a:avLst>
          </a:prstGeom>
          <a:solidFill>
            <a:srgbClr val="38BDF8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749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Tailwind CSS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40233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样式框架，响应式布局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EEA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项目结构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029200" y="1828800"/>
            <a:ext cx="3657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D4A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
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 css/     样式文件（3个）
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 js/      JavaScript（15+文件）
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 view/    页面模板（5个）
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D4A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public/
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 data/    JSON数据（4个）
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       项目文档（6份）
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scripts/    数据处理脚本
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spider/     爬虫脚本（4个）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8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页面展示 — 首页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371600" cy="45720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EEA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首页功能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41148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D4A8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朝代发展折线图：</a:t>
            </a:r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展示从春秋到清代的建筑发展脉络
</a:t>
            </a:r>
            <a:pPr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D4A8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建筑特征雷达图：</a:t>
            </a:r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多维度对比不同朝代建筑特色
</a:t>
            </a:r>
            <a:pPr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D4A8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统计卡片：</a:t>
            </a:r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四大核心数据一目了然
</a:t>
            </a:r>
            <a:pPr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D4A8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飘落叶片动效：</a:t>
            </a:r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银杏、枫叶、竹叶、柳叶四种类型，契合古建筑主题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EEA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朝代分布TOP5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0" y="1828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874520"/>
            <a:ext cx="1485900" cy="182880"/>
          </a:xfrm>
          <a:prstGeom prst="roundRect">
            <a:avLst>
              <a:gd name="adj" fmla="val 25000"/>
            </a:avLst>
          </a:prstGeom>
          <a:solidFill>
            <a:srgbClr val="D4A853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0" y="1828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30处 (26%)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0" y="23774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2423160"/>
            <a:ext cx="1200150" cy="182880"/>
          </a:xfrm>
          <a:prstGeom prst="roundRect">
            <a:avLst>
              <a:gd name="adj" fmla="val 25000"/>
            </a:avLst>
          </a:prstGeom>
          <a:solidFill>
            <a:srgbClr val="5EEAD4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0" y="23774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24处 (21%)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0" y="2926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唐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0" y="2971800"/>
            <a:ext cx="457200" cy="182880"/>
          </a:xfrm>
          <a:prstGeom prst="roundRect">
            <a:avLst>
              <a:gd name="adj" fmla="val 25000"/>
            </a:avLst>
          </a:prstGeom>
          <a:solidFill>
            <a:srgbClr val="5EEAD4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0" y="2926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9处 (8%)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0" y="34747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宋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7920" y="3520440"/>
            <a:ext cx="342900" cy="182880"/>
          </a:xfrm>
          <a:prstGeom prst="roundRect">
            <a:avLst>
              <a:gd name="adj" fmla="val 25000"/>
            </a:avLst>
          </a:prstGeom>
          <a:solidFill>
            <a:srgbClr val="5EEAD4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0" y="34747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7处 (6%)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0" y="4023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汉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17920" y="4069080"/>
            <a:ext cx="171450" cy="182880"/>
          </a:xfrm>
          <a:prstGeom prst="roundRect">
            <a:avLst>
              <a:gd name="adj" fmla="val 26667"/>
            </a:avLst>
          </a:prstGeom>
          <a:solidFill>
            <a:srgbClr val="5EEAD4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0" y="4023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4处 (3%)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8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页面展示 — 建筑成就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371600" cy="45720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EEA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核心图表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41148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D4A8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南丁格尔玫瑰图：</a:t>
            </a:r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六大朝代建筑数量对比
</a:t>
            </a:r>
            <a:pPr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D4A8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省份分布柱状图：</a:t>
            </a:r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古建筑地理分布可视化
</a:t>
            </a:r>
            <a:pPr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D4A8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极坐标柱状图：</a:t>
            </a:r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不同类别建筑占比
</a:t>
            </a:r>
            <a:pPr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D4A8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堆叠面积图：</a:t>
            </a:r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朝代建筑数量累积趋势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EEA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建筑类别分布</a:t>
            </a:r>
            <a:endParaRPr lang="en-US" sz="18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029200" y="1828800"/>
          <a:ext cx="36576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8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页面展示 — 杰出科学家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371600" cy="45720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EEA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41148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D4A8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力导向关系图：</a:t>
            </a:r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20位科学家与所属朝代的网络关系
</a:t>
            </a:r>
            <a:pPr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D4A8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横向时间轴：</a:t>
            </a:r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从春秋到清代的人才脉络
</a:t>
            </a:r>
            <a:pPr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D4A8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影响力评分：</a:t>
            </a:r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基于成就的综合评估体系
</a:t>
            </a:r>
            <a:pPr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D4A8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重点人物卡片：</a:t>
            </a:r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鲁班、李春、李诫、蒯祥、计成、雷发达等核心人物详情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EEA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重点人物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029200" y="1828800"/>
            <a:ext cx="3657600" cy="548640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5212080" y="19202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鲁班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0" y="1965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春秋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83680" y="1965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木工祖师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0" y="2468880"/>
            <a:ext cx="3657600" cy="548640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/>
        </p:spPr>
      </p:sp>
      <p:sp>
        <p:nvSpPr>
          <p:cNvPr id="13" name="Text 11"/>
          <p:cNvSpPr/>
          <p:nvPr/>
        </p:nvSpPr>
        <p:spPr>
          <a:xfrm>
            <a:off x="5212080" y="25603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李春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43600" y="26060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隋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83680" y="2606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赵州桥设计者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0" y="3108960"/>
            <a:ext cx="3657600" cy="548640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/>
        </p:spPr>
      </p:sp>
      <p:sp>
        <p:nvSpPr>
          <p:cNvPr id="17" name="Text 15"/>
          <p:cNvSpPr/>
          <p:nvPr/>
        </p:nvSpPr>
        <p:spPr>
          <a:xfrm>
            <a:off x="5212080" y="32004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李诫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943600" y="32461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北宋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83680" y="3246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《营造法式》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0" y="3749040"/>
            <a:ext cx="3657600" cy="548640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/>
        </p:spPr>
      </p:sp>
      <p:sp>
        <p:nvSpPr>
          <p:cNvPr id="21" name="Text 19"/>
          <p:cNvSpPr/>
          <p:nvPr/>
        </p:nvSpPr>
        <p:spPr>
          <a:xfrm>
            <a:off x="5212080" y="38404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蒯祥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943600" y="38862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83680" y="38862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故宫设计者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0" y="4389120"/>
            <a:ext cx="3657600" cy="548640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/>
        </p:spPr>
      </p:sp>
      <p:sp>
        <p:nvSpPr>
          <p:cNvPr id="25" name="Text 23"/>
          <p:cNvSpPr/>
          <p:nvPr/>
        </p:nvSpPr>
        <p:spPr>
          <a:xfrm>
            <a:off x="5212080" y="44805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计成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943600" y="45262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583680" y="45262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《园冶》作者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29200" y="5029200"/>
            <a:ext cx="3657600" cy="548640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/>
        </p:spPr>
      </p:sp>
      <p:sp>
        <p:nvSpPr>
          <p:cNvPr id="29" name="Text 27"/>
          <p:cNvSpPr/>
          <p:nvPr/>
        </p:nvSpPr>
        <p:spPr>
          <a:xfrm>
            <a:off x="5212080" y="51206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雷发达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943600" y="51663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583680" y="5166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样式雷创始人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8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页面展示 — 传世著作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371600" cy="45720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EEA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核心图表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4114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D4A8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旭日图：</a:t>
            </a:r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按朝代分类的著作层级关系
</a:t>
            </a:r>
            <a:pPr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D4A8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横向时间轴：</a:t>
            </a:r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从春秋《考工记》到清代《工段营造录》
</a:t>
            </a:r>
            <a:pPr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D4A8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朝代分布饼图：</a:t>
            </a:r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明代著作最多（5部），北宋和清代各3部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EEA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著作朝代分布</a:t>
            </a:r>
            <a:endParaRPr lang="en-US" sz="18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029200" y="1828800"/>
          <a:ext cx="36576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8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页面展示 — 建筑文化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371600" cy="45720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EEA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四大文化模块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3931920" cy="2011680"/>
          </a:xfrm>
          <a:prstGeom prst="roundRect">
            <a:avLst>
              <a:gd name="adj" fmla="val 4545"/>
            </a:avLst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965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8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民居文化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560320" y="20116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EA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8类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37744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四合院、土楼、徽派民居、吊脚楼、蒙古包、碉楼、干栏式、窑洞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46320" y="1828800"/>
            <a:ext cx="3931920" cy="2011680"/>
          </a:xfrm>
          <a:prstGeom prst="roundRect">
            <a:avLst>
              <a:gd name="adj" fmla="val 4545"/>
            </a:avLst>
          </a:pr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965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8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官府文化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949440" y="20116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EA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5类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0" y="237744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孔庙、县衙、贡院、城楼城墙、鼓楼钟楼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4114800"/>
            <a:ext cx="3931920" cy="2011680"/>
          </a:xfrm>
          <a:prstGeom prst="roundRect">
            <a:avLst>
              <a:gd name="adj" fmla="val 4545"/>
            </a:avLst>
          </a:prstGeom>
          <a:solidFill>
            <a:srgbClr val="1E293B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251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8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皇宫文化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560320" y="42976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EA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5类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466344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北京故宫、沈阳故宫、颐和园、避暑山庄、元大都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46320" y="4114800"/>
            <a:ext cx="3931920" cy="2011680"/>
          </a:xfrm>
          <a:prstGeom prst="roundRect">
            <a:avLst>
              <a:gd name="adj" fmla="val 4545"/>
            </a:avLst>
          </a:prstGeom>
          <a:solidFill>
            <a:srgbClr val="1E293B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0" y="4251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8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桥梁文化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949440" y="42976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EA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8类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0" y="466344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赵州桥、卢沟桥、安平桥、广济桥、洛阳桥、程阳风雨桥、泸定桥、晋祠鱼沼飞梁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8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创新亮点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371600" cy="45720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8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视觉创新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2743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古风配色体系：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古铜金、青瓦色、朱砂红、深夜墨
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飘落叶片动效：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银杏、枫叶、竹叶、柳叶替代传统粒子
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深色科技风：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现代数据可视化与传统文化融合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0" y="1371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EEA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技术创新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0" y="1828800"/>
            <a:ext cx="2743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MPA多页面架构：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参考4-c-web项目，Vite构建
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数据驱动全流程：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爬虫 + 清洗 + 可视化
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响应式ECharts：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5个断点适配，移动端性能降级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0" y="1371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内容创新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858000" y="1828800"/>
            <a:ext cx="2743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四大维度全覆盖：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成就 + 科学家 + 著作 + 文化
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时间跨度大：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春秋到清代，2500年历史
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图表类型丰富：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20+种图表类型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8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项目成果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371600" cy="45720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EEA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部署情况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b="1" dirty="0">
                <a:solidFill>
                  <a:srgbClr val="D4A8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 Pages（国内访问较慢）</a:t>
            </a:r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https://zmctwjt.github.io/ancient-architecture-viz/
</a:t>
            </a:r>
            <a:pPr indent="0" marL="0">
              <a:lnSpc>
                <a:spcPts val="2000"/>
              </a:lnSpc>
              <a:buNone/>
            </a:pPr>
            <a:r>
              <a:rPr lang="en-US" sz="1200" b="1" dirty="0">
                <a:solidFill>
                  <a:srgbClr val="D4A8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阿里云服务器（国内推荐）</a:t>
            </a:r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http://8.148.80.103
</a:t>
            </a:r>
            <a:pPr indent="0" marL="0">
              <a:lnSpc>
                <a:spcPts val="2000"/>
              </a:lnSpc>
              <a:buNone/>
            </a:pPr>
            <a:r>
              <a:rPr lang="en-US" sz="1200" b="1" dirty="0">
                <a:solidFill>
                  <a:srgbClr val="D4A8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项目已开源</a:t>
            </a:r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提供完整的数据爬虫、清洗脚本和文档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EEA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代码统计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0" y="1828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HTML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874520"/>
            <a:ext cx="2286000" cy="182880"/>
          </a:xfrm>
          <a:prstGeom prst="roundRect">
            <a:avLst>
              <a:gd name="adj" fmla="val 25000"/>
            </a:avLst>
          </a:prstGeom>
          <a:solidFill>
            <a:srgbClr val="D4A853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0" y="1828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6个文件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0" y="23774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CSS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2423160"/>
            <a:ext cx="1143000" cy="182880"/>
          </a:xfrm>
          <a:prstGeom prst="roundRect">
            <a:avLst>
              <a:gd name="adj" fmla="val 25000"/>
            </a:avLst>
          </a:prstGeom>
          <a:solidFill>
            <a:srgbClr val="5EEAD4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0" y="23774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3个文件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0" y="2926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JavaScript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0" y="2971800"/>
            <a:ext cx="5715000" cy="182880"/>
          </a:xfrm>
          <a:prstGeom prst="roundRect">
            <a:avLst>
              <a:gd name="adj" fmla="val 25000"/>
            </a:avLst>
          </a:prstGeom>
          <a:solidFill>
            <a:srgbClr val="DC2626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0" y="2926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15个文件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0" y="34747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7920" y="3520440"/>
            <a:ext cx="1905000" cy="182880"/>
          </a:xfrm>
          <a:prstGeom prst="roundRect">
            <a:avLst>
              <a:gd name="adj" fmla="val 25000"/>
            </a:avLst>
          </a:prstGeom>
          <a:solidFill>
            <a:srgbClr val="38BDF8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0" y="34747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5个文件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0" y="4023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Markdown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17920" y="4069080"/>
            <a:ext cx="2286000" cy="182880"/>
          </a:xfrm>
          <a:prstGeom prst="roundRect">
            <a:avLst>
              <a:gd name="adj" fmla="val 25000"/>
            </a:avLst>
          </a:prstGeom>
          <a:solidFill>
            <a:srgbClr val="A78BFA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0" y="4023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6个文件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0" y="5029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总计：35个文件，约13,000行代码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8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未来展望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371600" cy="45720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8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功能扩展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4114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增加3D建筑模型展示（Three.js/WebGL）</a:t>
            </a:r>
            <a:pPr indent="0" marL="0">
              <a:lnSpc>
                <a:spcPts val="2400"/>
              </a:lnSpc>
              <a:buNone/>
            </a:pP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增加VR/AR沉浸式体验</a:t>
            </a: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增加用户交互功能（收藏、分享）</a:t>
            </a: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增加多语言支持（英文/日文）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EEA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数据扩展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0" y="1828800"/>
            <a:ext cx="4114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增加更多古建筑数据（目标500+处）</a:t>
            </a:r>
            <a:pPr indent="0" marL="0">
              <a:lnSpc>
                <a:spcPts val="2400"/>
              </a:lnSpc>
              <a:buNone/>
            </a:pP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增加建筑细节图片与视频资料</a:t>
            </a: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增加用户生成内容（UGC）</a:t>
            </a: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增加建筑3D扫描模型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技术升级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4297680"/>
            <a:ext cx="4114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升级到Vue 3 + TypeScript</a:t>
            </a:r>
            <a:pPr indent="0" marL="0">
              <a:lnSpc>
                <a:spcPts val="2400"/>
              </a:lnSpc>
              <a:buNone/>
            </a:pP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使用WebGL实现3D效果</a:t>
            </a: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引入AI数据分析与推荐</a:t>
            </a: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部署到云服务平台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D4A8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感谢聆听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敬请各位批评指正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项目地址：https://github.com/zmctwjt/ancient-architecture-viz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在线演示：http://8.148.80.103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长沙民政职业技术学院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千年营造·华夏砖木——中国古代建筑数据可视化平台</dc:title>
  <dc:subject>千年营造·华夏砖木 作品演示</dc:subject>
  <dc:creator>ZMC</dc:creator>
  <cp:lastModifiedBy>ZMC</cp:lastModifiedBy>
  <cp:revision>1</cp:revision>
  <dcterms:created xsi:type="dcterms:W3CDTF">2026-10-22T13:24:58Z</dcterms:created>
  <dcterms:modified xsi:type="dcterms:W3CDTF">2026-10-22T13:24:58Z</dcterms:modified>
</cp:coreProperties>
</file>